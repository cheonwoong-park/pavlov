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3"/>
  </p:notesMasterIdLst>
  <p:sldIdLst>
    <p:sldId id="258" r:id="rId2"/>
  </p:sldIdLst>
  <p:sldSz cx="30275213" cy="42803763"/>
  <p:notesSz cx="6858000" cy="9144000"/>
  <p:embeddedFontLst>
    <p:embeddedFont>
      <p:font typeface="KoPubWorld돋움체 Bold" panose="00000800000000000000" pitchFamily="2" charset="-127"/>
      <p:bold r:id="rId4"/>
    </p:embeddedFont>
    <p:embeddedFont>
      <p:font typeface="KoPubWorld돋움체 Medium" panose="00000600000000000000" pitchFamily="2" charset="-127"/>
      <p:regular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3" autoAdjust="0"/>
    <p:restoredTop sz="96242" autoAdjust="0"/>
  </p:normalViewPr>
  <p:slideViewPr>
    <p:cSldViewPr snapToGrid="0">
      <p:cViewPr varScale="1">
        <p:scale>
          <a:sx n="17" d="100"/>
          <a:sy n="17" d="100"/>
        </p:scale>
        <p:origin x="2820" y="1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711C57BB-1AA6-4CAF-B586-821C81F3E53B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FCE27783-F44D-4BB7-AB8A-E9C316B59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042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06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611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418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223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029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2835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6641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447" algn="l" defTabSz="3507611" rtl="0" eaLnBrk="1" latinLnBrk="1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38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4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35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45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40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31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51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4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5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1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79A47-6E0C-4B67-B456-B3DCCF8B8A9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A5C0E-C845-4581-A208-DAB0C8E1A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57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40320E-11BE-D575-D6F4-0E73BEFA5591}"/>
              </a:ext>
            </a:extLst>
          </p:cNvPr>
          <p:cNvSpPr/>
          <p:nvPr/>
        </p:nvSpPr>
        <p:spPr>
          <a:xfrm>
            <a:off x="0" y="0"/>
            <a:ext cx="30275213" cy="3778092"/>
          </a:xfrm>
          <a:prstGeom prst="rect">
            <a:avLst/>
          </a:prstGeom>
          <a:solidFill>
            <a:srgbClr val="3A6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5510210" y="5570515"/>
            <a:ext cx="14346376" cy="25950884"/>
          </a:xfrm>
          <a:prstGeom prst="rect">
            <a:avLst/>
          </a:prstGeom>
          <a:solidFill>
            <a:schemeClr val="bg1"/>
          </a:solidFill>
          <a:ln w="127000">
            <a:solidFill>
              <a:schemeClr val="accent5">
                <a:lumMod val="60000"/>
                <a:lumOff val="40000"/>
                <a:alpha val="94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anchor="t">
            <a:noAutofit/>
          </a:bodyPr>
          <a:lstStyle/>
          <a:p>
            <a:pPr marL="571500" lvl="0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실험 설정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환경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A100 80GB, torch 2.9.1+cu130, transformers 4.51.3,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peft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0.19.1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모델: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D: DiffuCoder-7B-Base, A:Qwen2.5-Coder-7B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LoRA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r32 / </a:t>
            </a:r>
            <a:r>
              <a:rPr lang="el-GR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α64,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bf16,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동일 학습량</a:t>
            </a: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학습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train_set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17,760, 2000 step, effective batch 16, gen-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len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512, seed 0/1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비교 방법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A·D arm +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공통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frozen filler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A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greedy, 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diffusion_generate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이때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denoising step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충분히 적용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지표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AST edit distance: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과 정답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AST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node type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기준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tree edit distance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위반율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filler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출력이 입력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과 구조가 달라진 비율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re-executability: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복원한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C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컴파일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실행해 원본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test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통과하는 비율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marR="0" lvl="0" indent="-571500" algn="just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kumimoji="0" lang="ko-KR" altLang="en-US" sz="36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실험 결과 분석</a:t>
            </a:r>
          </a:p>
          <a:p>
            <a:pPr lvl="1" algn="just">
              <a:lnSpc>
                <a:spcPts val="4800"/>
              </a:lnSpc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lvl="1" algn="just">
              <a:lnSpc>
                <a:spcPct val="150000"/>
              </a:lnSpc>
              <a:defRPr/>
            </a:pPr>
            <a:endParaRPr lang="en-US" altLang="ko-KR" sz="36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lvl="1" algn="just">
              <a:lnSpc>
                <a:spcPct val="150000"/>
              </a:lnSpc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lvl="1" algn="just">
              <a:lnSpc>
                <a:spcPct val="150000"/>
              </a:lnSpc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핵심지표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: AST edit distance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seed0, seed1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모두 사실상 대등하거나 우위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. AST edit distance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이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AR baseline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보다 높은 구조 복원력을 보임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 길이별로 나누면 짧은 함수는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 우위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함수가 길어질수록 격차가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쪽으로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좁혀짐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전역 구조가 많아질수록 양방향 생성의 이점이 드러나는 경향</a:t>
            </a:r>
          </a:p>
          <a:p>
            <a:pPr marL="1028700" lvl="1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Re-executability, skeleton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위반율</a:t>
            </a: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Re-exec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보다 높음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다만 두 지표 모두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frozen filler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pseudocode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재 생성하는 영향을 크게 받음</a:t>
            </a:r>
          </a:p>
          <a:p>
            <a:pPr marL="1485900" lvl="2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위반율은 두 실험에서 모두 낮음</a:t>
            </a:r>
          </a:p>
          <a:p>
            <a:pPr marL="1943100" lvl="3" indent="-5715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filler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 채우는 과정에서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덜 수정했음을 의미</a:t>
            </a: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729758" y="901983"/>
            <a:ext cx="31734728" cy="1305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8000" b="1" dirty="0">
                <a:solidFill>
                  <a:schemeClr val="bg1"/>
                </a:solidFill>
                <a:latin typeface="KoPubWorld돋움체 Bold"/>
                <a:ea typeface="KoPubWorld돋움체 Bold"/>
                <a:cs typeface="KoPubWorld돋움체 Bold"/>
              </a:rPr>
              <a:t>Pavlov: AST </a:t>
            </a:r>
            <a:r>
              <a:rPr lang="ko-KR" altLang="en-US" sz="8000" b="1" dirty="0">
                <a:solidFill>
                  <a:schemeClr val="bg1"/>
                </a:solidFill>
                <a:latin typeface="KoPubWorld돋움체 Bold"/>
                <a:ea typeface="KoPubWorld돋움체 Bold"/>
                <a:cs typeface="KoPubWorld돋움체 Bold"/>
              </a:rPr>
              <a:t>구조 복원을 위한 </a:t>
            </a:r>
            <a:r>
              <a:rPr lang="en-US" altLang="ko-KR" sz="8000" b="1" dirty="0">
                <a:solidFill>
                  <a:schemeClr val="bg1"/>
                </a:solidFill>
                <a:latin typeface="KoPubWorld돋움체 Bold"/>
                <a:ea typeface="KoPubWorld돋움체 Bold"/>
                <a:cs typeface="KoPubWorld돋움체 Bold"/>
              </a:rPr>
              <a:t>Diffusion </a:t>
            </a:r>
            <a:r>
              <a:rPr lang="ko-KR" altLang="en-US" sz="8000" b="1" dirty="0">
                <a:solidFill>
                  <a:schemeClr val="bg1"/>
                </a:solidFill>
                <a:latin typeface="KoPubWorld돋움체 Bold"/>
                <a:ea typeface="KoPubWorld돋움체 Bold"/>
                <a:cs typeface="KoPubWorld돋움체 Bold"/>
              </a:rPr>
              <a:t>기반 </a:t>
            </a:r>
            <a:r>
              <a:rPr lang="en-US" altLang="ko-KR" sz="8000" b="1" dirty="0" err="1">
                <a:solidFill>
                  <a:schemeClr val="bg1"/>
                </a:solidFill>
                <a:latin typeface="KoPubWorld돋움체 Bold"/>
                <a:ea typeface="KoPubWorld돋움체 Bold"/>
                <a:cs typeface="KoPubWorld돋움체 Bold"/>
              </a:rPr>
              <a:t>Decompilation</a:t>
            </a:r>
            <a:endParaRPr lang="en-US" altLang="ko-KR" sz="8000" b="1" dirty="0">
              <a:solidFill>
                <a:schemeClr val="bg1"/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91223-56B5-9F95-3F39-DF420566ABEB}"/>
              </a:ext>
            </a:extLst>
          </p:cNvPr>
          <p:cNvSpPr txBox="1"/>
          <p:nvPr/>
        </p:nvSpPr>
        <p:spPr>
          <a:xfrm>
            <a:off x="7559743" y="2562968"/>
            <a:ext cx="151557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ts val="570"/>
              </a:spcBef>
              <a:spcAft>
                <a:spcPts val="570"/>
              </a:spcAft>
            </a:pPr>
            <a:r>
              <a:rPr lang="ko-KR" altLang="en-US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박천웅</a:t>
            </a:r>
            <a:r>
              <a:rPr lang="en-US" altLang="ko-KR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강민석</a:t>
            </a:r>
            <a:r>
              <a:rPr lang="en-US" altLang="ko-KR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권준영</a:t>
            </a:r>
            <a:r>
              <a:rPr lang="en-US" altLang="ko-KR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정우진</a:t>
            </a:r>
            <a:r>
              <a:rPr lang="en-US" altLang="ko-KR" sz="45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4500" b="1" kern="0" dirty="0" err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지경선</a:t>
            </a:r>
            <a:endParaRPr lang="ko-KR" altLang="en-US" sz="4500" b="1" kern="0" spc="0" dirty="0">
              <a:solidFill>
                <a:srgbClr val="FFFFFF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34" name="직사각형 1133"/>
          <p:cNvSpPr/>
          <p:nvPr/>
        </p:nvSpPr>
        <p:spPr>
          <a:xfrm>
            <a:off x="315931" y="5500029"/>
            <a:ext cx="14346376" cy="3750441"/>
          </a:xfrm>
          <a:prstGeom prst="rect">
            <a:avLst/>
          </a:prstGeom>
          <a:solidFill>
            <a:schemeClr val="bg1"/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anchor="t"/>
          <a:lstStyle/>
          <a:p>
            <a:pPr marL="457200" lvl="0" indent="-457200" algn="just">
              <a:lnSpc>
                <a:spcPts val="41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기존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LLM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기반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Decompile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은 한 토큰씩 생성하는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Autoregressive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방식에 의존하나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코드 구조 복원은 전역 제약이 강해 단방향 생성에서 불리함</a:t>
            </a:r>
          </a:p>
          <a:p>
            <a:pPr marL="457200" lvl="0" indent="-457200" algn="just">
              <a:lnSpc>
                <a:spcPts val="41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 model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은 시퀀스 전체를 양방향으로 정제하므로 전역 구조 복원에 유리할 수 있으며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본 연구는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AST 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복원에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적용함</a:t>
            </a:r>
          </a:p>
          <a:p>
            <a:pPr marL="457200" lvl="0" indent="-457200" algn="just">
              <a:lnSpc>
                <a:spcPts val="41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동일 계열 기반 모델에서 파생된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Diffusion·AR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model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같은 데이터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·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같은 크기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LoRA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학습하여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복원 단계에서 두 방식의 차이를 통제 비교함</a:t>
            </a:r>
          </a:p>
          <a:p>
            <a:pPr marL="457200" lvl="0" indent="-457200" algn="just">
              <a:lnSpc>
                <a:spcPts val="41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135" name="직사각형 1134">
            <a:extLst>
              <a:ext uri="{FF2B5EF4-FFF2-40B4-BE49-F238E27FC236}">
                <a16:creationId xmlns:a16="http://schemas.microsoft.com/office/drawing/2014/main" id="{38A143BA-F347-DAED-7803-65DE4FE4D2EC}"/>
              </a:ext>
            </a:extLst>
          </p:cNvPr>
          <p:cNvSpPr>
            <a:spLocks noChangeAspect="1"/>
          </p:cNvSpPr>
          <p:nvPr/>
        </p:nvSpPr>
        <p:spPr>
          <a:xfrm>
            <a:off x="315930" y="4450447"/>
            <a:ext cx="14346377" cy="1136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요약</a:t>
            </a:r>
          </a:p>
        </p:txBody>
      </p:sp>
      <p:sp>
        <p:nvSpPr>
          <p:cNvPr id="1136" name="직사각형 1135"/>
          <p:cNvSpPr/>
          <p:nvPr/>
        </p:nvSpPr>
        <p:spPr>
          <a:xfrm>
            <a:off x="315930" y="11059418"/>
            <a:ext cx="14346376" cy="11508752"/>
          </a:xfrm>
          <a:prstGeom prst="rect">
            <a:avLst/>
          </a:prstGeom>
          <a:solidFill>
            <a:schemeClr val="bg1"/>
          </a:solidFill>
          <a:ln w="127000">
            <a:solidFill>
              <a:schemeClr val="accent5">
                <a:lumMod val="60000"/>
                <a:lumOff val="40000"/>
                <a:alpha val="94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anchor="t">
            <a:noAutofit/>
          </a:bodyPr>
          <a:lstStyle/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 Model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데이터에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noise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조금씩 더해 망가뜨린 뒤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그 과정을 거꾸로 되돌리도록 학습해서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noise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로부터 데이터를 복원하는 생성 모델임</a:t>
            </a: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주로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생성형 이미지 모델에 사용 됨</a:t>
            </a: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36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36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lvl="0" algn="just">
              <a:lnSpc>
                <a:spcPts val="4800"/>
              </a:lnSpc>
              <a:defRPr/>
            </a:pPr>
            <a:r>
              <a:rPr lang="en-US" altLang="ko-KR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                             </a:t>
            </a:r>
          </a:p>
          <a:p>
            <a:pPr marL="571500" lvl="0" indent="-571500" algn="just">
              <a:lnSpc>
                <a:spcPts val="4800"/>
              </a:lnSpc>
              <a:buFont typeface="Wingdings"/>
              <a:buChar char="ü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text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기반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image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와 달리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token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이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이산값이라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gaussian noise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대신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MASK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치환하는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masked 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사용함</a:t>
            </a:r>
          </a:p>
          <a:p>
            <a:pPr marL="571500" lvl="0" indent="-571500" algn="just">
              <a:lnSpc>
                <a:spcPts val="4800"/>
              </a:lnSpc>
              <a:buFont typeface="Wingdings"/>
              <a:buChar char="ü"/>
              <a:defRPr/>
            </a:pPr>
            <a:endParaRPr lang="en-US" altLang="ko-KR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Decompile</a:t>
            </a:r>
          </a:p>
          <a:p>
            <a:pPr marL="1028700" marR="0" lvl="1" indent="-571500" algn="just" defTabSz="457200" rtl="0" eaLnBrk="1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Font typeface="Arial"/>
              <a:buChar char="•"/>
              <a:defRPr/>
            </a:pPr>
            <a:r>
              <a:rPr kumimoji="0" lang="en-US" altLang="ko-KR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Decompile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은 </a:t>
            </a:r>
            <a:r>
              <a:rPr kumimoji="0" lang="ko-KR" altLang="en-US" sz="2900" b="0" i="0" u="none" strike="noStrike" kern="1200" cap="none" spc="0" normalizeH="0" baseline="0" dirty="0" err="1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컴파일된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 프로그램</a:t>
            </a:r>
            <a:r>
              <a:rPr kumimoji="0" lang="en-US" altLang="ko-KR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(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바이너리</a:t>
            </a:r>
            <a:r>
              <a:rPr kumimoji="0" lang="en-US" altLang="ko-KR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)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를 사람이 읽을 수 있는 고수준 소스 코드로 다시 복구하는 과정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 err="1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디스어셈블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 → 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IR 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승격 → 제어흐름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데이터흐름 분석 → 타입 복원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·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구조화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(=AST 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복원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) → code 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생성 순으로 구성됨</a:t>
            </a: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137" name="직사각형 1136">
            <a:extLst>
              <a:ext uri="{FF2B5EF4-FFF2-40B4-BE49-F238E27FC236}">
                <a16:creationId xmlns:a16="http://schemas.microsoft.com/office/drawing/2014/main" id="{677EE158-338B-94A2-BC14-BE4B83518722}"/>
              </a:ext>
            </a:extLst>
          </p:cNvPr>
          <p:cNvSpPr>
            <a:spLocks noChangeAspect="1"/>
          </p:cNvSpPr>
          <p:nvPr/>
        </p:nvSpPr>
        <p:spPr>
          <a:xfrm>
            <a:off x="315928" y="10009835"/>
            <a:ext cx="14346376" cy="1136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배경 지식</a:t>
            </a:r>
          </a:p>
        </p:txBody>
      </p:sp>
      <p:sp>
        <p:nvSpPr>
          <p:cNvPr id="1147" name="직사각형 1146"/>
          <p:cNvSpPr/>
          <p:nvPr/>
        </p:nvSpPr>
        <p:spPr>
          <a:xfrm>
            <a:off x="15509508" y="33519868"/>
            <a:ext cx="14365029" cy="7461107"/>
          </a:xfrm>
          <a:prstGeom prst="rect">
            <a:avLst/>
          </a:prstGeom>
          <a:solidFill>
            <a:schemeClr val="bg1"/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52000" rIns="360000" anchor="t"/>
          <a:lstStyle/>
          <a:p>
            <a:pPr marL="457200" lvl="0" indent="-457200" algn="just">
              <a:lnSpc>
                <a:spcPct val="15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본 연구는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복원 단계에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적용해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autoregressive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와 동일 조건에서 통제 비교함</a:t>
            </a:r>
          </a:p>
          <a:p>
            <a:pPr marL="457200" lvl="0" indent="-457200" algn="just">
              <a:lnSpc>
                <a:spcPct val="15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AST edit distance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AR baseline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과 대등하거나 이상이고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위반율도 더 낮아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두 구조 지표가 함께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의 구조 복원이 유의미한 수준이었음을 뒷받침함</a:t>
            </a:r>
          </a:p>
          <a:p>
            <a:pPr marL="457200" lvl="0" indent="-457200" algn="just">
              <a:lnSpc>
                <a:spcPct val="15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확률적 변동성을 점검하고자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seed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달리해 두 번 반복함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seed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모두 실험결과가 일관되게 관측 됨</a:t>
            </a:r>
          </a:p>
          <a:p>
            <a:pPr marL="457200" lvl="0" indent="-457200" algn="just">
              <a:lnSpc>
                <a:spcPct val="15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제약된 컴퓨팅 자원 탓에 정작 그 이점이 가장 잘 드러날 긴 함수와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multi-function long-context regime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충분히 다루지 못함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자원을 확보해 이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regime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본격적으로 평가하는 것이 확장 방향임</a:t>
            </a:r>
          </a:p>
        </p:txBody>
      </p:sp>
      <p:sp>
        <p:nvSpPr>
          <p:cNvPr id="1148" name="직사각형 1147">
            <a:extLst>
              <a:ext uri="{FF2B5EF4-FFF2-40B4-BE49-F238E27FC236}">
                <a16:creationId xmlns:a16="http://schemas.microsoft.com/office/drawing/2014/main" id="{F19230ED-7649-6F6A-295C-CE0E1BCFF084}"/>
              </a:ext>
            </a:extLst>
          </p:cNvPr>
          <p:cNvSpPr>
            <a:spLocks noChangeAspect="1"/>
          </p:cNvSpPr>
          <p:nvPr/>
        </p:nvSpPr>
        <p:spPr>
          <a:xfrm>
            <a:off x="15509508" y="32298632"/>
            <a:ext cx="14365029" cy="1136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 및 고찰</a:t>
            </a:r>
          </a:p>
        </p:txBody>
      </p:sp>
      <p:sp>
        <p:nvSpPr>
          <p:cNvPr id="1126" name="Rectangle 8">
            <a:extLst>
              <a:ext uri="{FF2B5EF4-FFF2-40B4-BE49-F238E27FC236}">
                <a16:creationId xmlns:a16="http://schemas.microsoft.com/office/drawing/2014/main" id="{5ACBE1EF-7D25-4C70-E9EE-8D89D6F7A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4151" y="1443562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15929" y="24448290"/>
            <a:ext cx="14346377" cy="16499199"/>
          </a:xfrm>
          <a:prstGeom prst="rect">
            <a:avLst/>
          </a:prstGeom>
          <a:solidFill>
            <a:schemeClr val="bg1"/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anchor="t"/>
          <a:lstStyle/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36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Step</a:t>
            </a:r>
            <a:r>
              <a:rPr lang="ko-KR" altLang="en-US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1: 데이터 </a:t>
            </a:r>
            <a:r>
              <a:rPr lang="ko-KR" altLang="en-US" sz="36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전처리</a:t>
            </a:r>
            <a:endParaRPr lang="ko-KR" altLang="en-US" sz="36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LLM4Binary/Decompile-bench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source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함수와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컴파일된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binary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가져와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binary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split zip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에서 필요 구간만 부분 추출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Ghidra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analyzeHeadless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함수별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pseudocode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jsonl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추출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named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함수만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project·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함수명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키로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source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와 매칭하고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, tree-sitter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AST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순회해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익명화하여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endParaRPr lang="en-US" altLang="ko-KR" sz="36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36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Step</a:t>
            </a:r>
            <a:r>
              <a:rPr lang="ko-KR" altLang="en-US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2: 학습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r 32, alpha 64,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학습 파라미터 약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80M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으로 전체의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1.05%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설계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 arm: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autoregressive </a:t>
            </a:r>
          </a:p>
          <a:p>
            <a:pPr marL="1485900" lvl="2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Qwen2.5-Coder-7B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 표준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cross entropy, </a:t>
            </a: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prompt·pad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-100 </a:t>
            </a:r>
            <a:r>
              <a:rPr lang="ko-KR" altLang="en-US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마스킹</a:t>
            </a: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 arm: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diffusion </a:t>
            </a:r>
          </a:p>
          <a:p>
            <a:pPr marL="1485900" lvl="2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DiffuCoder-7B-Base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masked diffusion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적용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. </a:t>
            </a:r>
          </a:p>
          <a:p>
            <a:pPr marL="1485900" lvl="2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LLaDA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recipe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target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을 확률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[MASK]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치환 후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masked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cross entropy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1/t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가중</a:t>
            </a:r>
          </a:p>
          <a:p>
            <a:pPr marL="571500" lvl="0" indent="-571500" algn="just">
              <a:lnSpc>
                <a:spcPts val="4800"/>
              </a:lnSpc>
              <a:buFont typeface="Wingdings"/>
              <a:buChar char="ü"/>
              <a:defRPr/>
            </a:pP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DiffuCoder-7B-Base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는 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Qwen2.5-Coder-7B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와 같은 계열 모델로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,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 두 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arm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의 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backbone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은 동일</a:t>
            </a:r>
          </a:p>
          <a:p>
            <a:pPr marL="571500" lvl="0" indent="-571500" algn="just">
              <a:lnSpc>
                <a:spcPts val="4800"/>
              </a:lnSpc>
              <a:buFont typeface="Wingdings"/>
              <a:buChar char="ü"/>
              <a:defRPr/>
            </a:pPr>
            <a:endParaRPr lang="ko-KR" altLang="en-US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571500" lvl="0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36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Step</a:t>
            </a:r>
            <a:r>
              <a:rPr lang="ko-KR" altLang="en-US" sz="36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3: 평가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평가셋은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Decompile-eval 240 balanced subset = 60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함수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× O0–O3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으로 구성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 err="1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Ghidra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 pseudocode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에서 각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arm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으로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frozen model filler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placeholder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채워 컴파일 가능한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C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복원</a:t>
            </a:r>
            <a:endParaRPr lang="en-US" altLang="ko-KR" sz="2900" dirty="0">
              <a:solidFill>
                <a:schemeClr val="tx1"/>
              </a:solidFill>
              <a:latin typeface="KoPubWorld돋움체 Medium"/>
              <a:ea typeface="KoPubWorld돋움체 Medium"/>
              <a:cs typeface="KoPubWorld돋움체 Medium"/>
            </a:endParaRP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생성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과 정답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의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AST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를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node type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기준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edit distance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로 비교해 구조 복원 정확도 측정</a:t>
            </a:r>
          </a:p>
          <a:p>
            <a:pPr marL="1028700" lvl="1" indent="-571500" algn="just">
              <a:lnSpc>
                <a:spcPts val="4800"/>
              </a:lnSpc>
              <a:buFont typeface="Arial"/>
              <a:buChar char="•"/>
              <a:defRPr/>
            </a:pP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구조 보존은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filler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출력 재익명화 후 입력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과 비교한 </a:t>
            </a:r>
            <a:r>
              <a:rPr lang="en-US" altLang="ko-KR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skeleton </a:t>
            </a:r>
            <a:r>
              <a:rPr lang="ko-KR" altLang="en-US" sz="2900" dirty="0">
                <a:solidFill>
                  <a:schemeClr val="tx1"/>
                </a:solidFill>
                <a:latin typeface="KoPubWorld돋움체 Medium"/>
                <a:ea typeface="KoPubWorld돋움체 Medium"/>
                <a:cs typeface="KoPubWorld돋움체 Medium"/>
              </a:rPr>
              <a:t>위반율로 검증</a:t>
            </a:r>
          </a:p>
          <a:p>
            <a:pPr marL="571500" marR="0" lvl="0" indent="-571500" algn="just" defTabSz="457200" rtl="0" eaLnBrk="1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Font typeface="Wingdings"/>
              <a:buChar char="ü"/>
              <a:defRPr/>
            </a:pPr>
            <a:r>
              <a:rPr kumimoji="0" lang="en-US" altLang="ko-KR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filler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를 두 </a:t>
            </a:r>
            <a:r>
              <a:rPr kumimoji="0" lang="en-US" altLang="ko-KR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arm 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공통으로 사용하므로 최종 성능 차이는 </a:t>
            </a:r>
            <a:r>
              <a:rPr lang="ko-KR" altLang="en-US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두 </a:t>
            </a:r>
            <a:r>
              <a:rPr lang="en-US" altLang="ko-KR" sz="2900" dirty="0">
                <a:solidFill>
                  <a:prstClr val="black"/>
                </a:solidFill>
                <a:latin typeface="KoPubWorld돋움체 Medium"/>
                <a:ea typeface="KoPubWorld돋움체 Medium"/>
                <a:cs typeface="KoPubWorld돋움체 Medium"/>
              </a:rPr>
              <a:t>arm</a:t>
            </a:r>
            <a:r>
              <a:rPr kumimoji="0" lang="ko-KR" altLang="en-US" sz="2900" b="0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rPr>
              <a:t>의 학습 능력 차이</a:t>
            </a:r>
            <a:endParaRPr kumimoji="0" lang="ko-KR" altLang="en-US" sz="2900" b="0" i="0" u="none" strike="noStrike" kern="1200" cap="none" spc="0" normalizeH="0" baseline="0" dirty="0">
              <a:solidFill>
                <a:prstClr val="black"/>
              </a:solidFill>
              <a:latin typeface="KoPubWorld돋움체 Medium"/>
              <a:ea typeface="KoPubWorld돋움체 Medium"/>
              <a:cs typeface="KoPubWorld돋움체 Mediu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0F1945-4005-BB96-8FA3-B70EF903E2FE}"/>
              </a:ext>
            </a:extLst>
          </p:cNvPr>
          <p:cNvSpPr>
            <a:spLocks noChangeAspect="1"/>
          </p:cNvSpPr>
          <p:nvPr/>
        </p:nvSpPr>
        <p:spPr>
          <a:xfrm>
            <a:off x="315927" y="23284341"/>
            <a:ext cx="14346377" cy="1136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제안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07CEA4-9256-E904-7C21-EEE7B6A72F2D}"/>
              </a:ext>
            </a:extLst>
          </p:cNvPr>
          <p:cNvSpPr>
            <a:spLocks noChangeAspect="1"/>
          </p:cNvSpPr>
          <p:nvPr/>
        </p:nvSpPr>
        <p:spPr>
          <a:xfrm>
            <a:off x="15509508" y="4450447"/>
            <a:ext cx="14346377" cy="1136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0">
            <a:solidFill>
              <a:schemeClr val="accent5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655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실험 및 결과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279489"/>
              </p:ext>
            </p:extLst>
          </p:nvPr>
        </p:nvGraphicFramePr>
        <p:xfrm>
          <a:off x="16158048" y="16311615"/>
          <a:ext cx="13114844" cy="2789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7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055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arm</a:t>
                      </a:r>
                      <a:endParaRPr lang="ko-KR" altLang="en-US" sz="28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AST edit distance</a:t>
                      </a:r>
                      <a:endParaRPr lang="ko-KR" altLang="en-US" sz="2800" b="1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skeleton </a:t>
                      </a:r>
                      <a:r>
                        <a:rPr lang="ko-KR" altLang="en-US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위반율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re-executability</a:t>
                      </a:r>
                      <a:endParaRPr lang="ko-KR" altLang="en-US" sz="2800" b="1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1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 arm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(Autoregressive)</a:t>
                      </a:r>
                      <a:endParaRPr lang="ko-KR" altLang="en-US" sz="240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0.534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82.9%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26.7%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1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 arm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(Diffusion)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0.531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75.8%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20.4%</a:t>
                      </a:r>
                      <a:endParaRPr lang="ko-KR" altLang="en-US" sz="3200" b="0" dirty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7107A1-6347-1FD0-F90F-50CE5EF7132A}"/>
              </a:ext>
            </a:extLst>
          </p:cNvPr>
          <p:cNvSpPr txBox="1"/>
          <p:nvPr/>
        </p:nvSpPr>
        <p:spPr>
          <a:xfrm>
            <a:off x="18724700" y="19413155"/>
            <a:ext cx="6823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[table.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1] seed 0 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평가 결과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882977" y="14138251"/>
            <a:ext cx="9212278" cy="3214393"/>
            <a:chOff x="3098877" y="13946278"/>
            <a:chExt cx="9212278" cy="3214393"/>
          </a:xfrm>
        </p:grpSpPr>
        <p:sp>
          <p:nvSpPr>
            <p:cNvPr id="21" name="TextBox 20"/>
            <p:cNvSpPr txBox="1"/>
            <p:nvPr/>
          </p:nvSpPr>
          <p:spPr>
            <a:xfrm>
              <a:off x="3098877" y="16713378"/>
              <a:ext cx="9212278" cy="447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kumimoji="0" lang="en-US" altLang="ko-KR" sz="2400" i="0" u="none" strike="noStrike" kern="1200" cap="none" spc="0" normalizeH="0" baseline="0" dirty="0">
                  <a:solidFill>
                    <a:prstClr val="black"/>
                  </a:solidFill>
                  <a:effectLst/>
                  <a:uLnTx/>
                  <a:uFillTx/>
                  <a:latin typeface="KoPubWorld돋움체 Medium"/>
                  <a:ea typeface="KoPubWorld돋움체 Medium"/>
                  <a:cs typeface="KoPubWorld돋움체 Medium"/>
                </a:rPr>
                <a:t>[Fig.</a:t>
              </a:r>
              <a:r>
                <a:rPr kumimoji="0" lang="ko-KR" altLang="en-US" sz="2400" i="0" u="none" strike="noStrike" kern="1200" cap="none" spc="0" normalizeH="0" baseline="0" dirty="0">
                  <a:solidFill>
                    <a:prstClr val="black"/>
                  </a:solidFill>
                  <a:effectLst/>
                  <a:uLnTx/>
                  <a:uFillTx/>
                  <a:latin typeface="KoPubWorld돋움체 Medium"/>
                  <a:ea typeface="KoPubWorld돋움체 Medium"/>
                  <a:cs typeface="KoPubWorld돋움체 Medium"/>
                </a:rPr>
                <a:t> </a:t>
              </a:r>
              <a:r>
                <a:rPr kumimoji="0" lang="en-US" altLang="ko-KR" sz="2400" i="0" u="none" strike="noStrike" kern="1200" cap="none" spc="0" normalizeH="0" baseline="0" dirty="0">
                  <a:solidFill>
                    <a:prstClr val="black"/>
                  </a:solidFill>
                  <a:effectLst/>
                  <a:uLnTx/>
                  <a:uFillTx/>
                  <a:latin typeface="KoPubWorld돋움체 Medium"/>
                  <a:ea typeface="KoPubWorld돋움체 Medium"/>
                  <a:cs typeface="KoPubWorld돋움체 Medium"/>
                </a:rPr>
                <a:t>1] </a:t>
              </a:r>
              <a:r>
                <a:rPr lang="en-US" altLang="ko-KR" sz="2400" dirty="0">
                  <a:latin typeface="KoPubWorld돋움체 Medium"/>
                  <a:ea typeface="KoPubWorld돋움체 Medium"/>
                  <a:cs typeface="KoPubWorld돋움체 Medium"/>
                </a:rPr>
                <a:t>Diffusion</a:t>
              </a:r>
              <a:r>
                <a:rPr lang="ko-KR" altLang="ko-KR" sz="2400" dirty="0">
                  <a:latin typeface="KoPubWorld돋움체 Medium"/>
                  <a:ea typeface="KoPubWorld돋움체 Medium"/>
                  <a:cs typeface="KoPubWorld돋움체 Medium"/>
                </a:rPr>
                <a:t> </a:t>
              </a:r>
              <a:r>
                <a:rPr lang="en-US" altLang="ko-KR" sz="2400" dirty="0">
                  <a:latin typeface="KoPubWorld돋움체 Medium"/>
                  <a:ea typeface="KoPubWorld돋움체 Medium"/>
                  <a:cs typeface="KoPubWorld돋움체 Medium"/>
                </a:rPr>
                <a:t>Model</a:t>
              </a:r>
              <a:r>
                <a:rPr lang="ko-KR" altLang="ko-KR" sz="2400" dirty="0">
                  <a:latin typeface="KoPubWorld돋움체 Medium"/>
                  <a:ea typeface="KoPubWorld돋움체 Medium"/>
                  <a:cs typeface="KoPubWorld돋움체 Medium"/>
                </a:rPr>
                <a:t>의 </a:t>
              </a:r>
              <a:r>
                <a:rPr lang="ko-KR" altLang="ko-KR" sz="2400" dirty="0" err="1">
                  <a:latin typeface="KoPubWorld돋움체 Medium"/>
                  <a:ea typeface="KoPubWorld돋움체 Medium"/>
                  <a:cs typeface="KoPubWorld돋움체 Medium"/>
                </a:rPr>
                <a:t>정방향</a:t>
              </a:r>
              <a:r>
                <a:rPr lang="ko-KR" altLang="ko-KR" sz="2400" dirty="0">
                  <a:latin typeface="KoPubWorld돋움체 Medium"/>
                  <a:ea typeface="KoPubWorld돋움체 Medium"/>
                  <a:cs typeface="KoPubWorld돋움체 Medium"/>
                </a:rPr>
                <a:t> 확산 및 역방향 노이즈 제거 과정</a:t>
              </a:r>
              <a:endParaRPr lang="ko-KR" altLang="ko-KR" sz="2400" dirty="0">
                <a:effectLst/>
                <a:uLnTx/>
                <a:uFillTx/>
                <a:latin typeface="KoPubWorld돋움체 Medium"/>
                <a:ea typeface="KoPubWorld돋움체 Medium"/>
                <a:cs typeface="KoPubWorld돋움체 Medium"/>
              </a:endParaRPr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241932" y="13946278"/>
              <a:ext cx="6926169" cy="2645862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B2E02A0F-D44C-ACCD-052D-D53AAB32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343" y="41429420"/>
            <a:ext cx="5923726" cy="104257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02890E37-661E-137B-FA82-69072A705D69}"/>
              </a:ext>
            </a:extLst>
          </p:cNvPr>
          <p:cNvGrpSpPr/>
          <p:nvPr/>
        </p:nvGrpSpPr>
        <p:grpSpPr>
          <a:xfrm>
            <a:off x="28003500" y="40497341"/>
            <a:ext cx="2006584" cy="2006584"/>
            <a:chOff x="27152727" y="39484409"/>
            <a:chExt cx="2987587" cy="29875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A3A9A8C-D7FC-E80A-9591-B08A68F718FA}"/>
                </a:ext>
              </a:extLst>
            </p:cNvPr>
            <p:cNvSpPr/>
            <p:nvPr/>
          </p:nvSpPr>
          <p:spPr>
            <a:xfrm>
              <a:off x="27152727" y="39484409"/>
              <a:ext cx="2987587" cy="2987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F8EBC4F-1063-8C0C-5D27-9725627AF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52727" y="39484409"/>
              <a:ext cx="2987587" cy="2987587"/>
            </a:xfrm>
            <a:prstGeom prst="rect">
              <a:avLst/>
            </a:prstGeom>
          </p:spPr>
        </p:pic>
      </p:grp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736033"/>
              </p:ext>
            </p:extLst>
          </p:nvPr>
        </p:nvGraphicFramePr>
        <p:xfrm>
          <a:off x="16158048" y="20159140"/>
          <a:ext cx="13114844" cy="2789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7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055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arm</a:t>
                      </a:r>
                      <a:endParaRPr lang="ko-KR" altLang="en-US" sz="2800" b="1" dirty="0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AST edit distance</a:t>
                      </a:r>
                      <a:endParaRPr lang="ko-KR" altLang="en-US" sz="2800" b="1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skeleton </a:t>
                      </a:r>
                      <a:r>
                        <a:rPr lang="ko-KR" altLang="en-US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위반율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800" b="1">
                          <a:solidFill>
                            <a:schemeClr val="tx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re-executability</a:t>
                      </a:r>
                      <a:endParaRPr lang="ko-KR" altLang="en-US" sz="2800" b="1">
                        <a:solidFill>
                          <a:schemeClr val="tx1"/>
                        </a:solidFill>
                        <a:latin typeface="KoPubWorld돋움체 Bold"/>
                        <a:ea typeface="KoPubWorld돋움체 Bold"/>
                        <a:cs typeface="KoPubWorld돋움체 Bold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31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 arm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(Autoregressive)</a:t>
                      </a:r>
                      <a:endParaRPr lang="ko-KR" altLang="en-US" sz="240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0.504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83.8%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27.5%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1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 arm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(Diffusion)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0.484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76.2%</a:t>
                      </a:r>
                      <a:endParaRPr lang="ko-KR" altLang="en-US" sz="3200" b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3200" b="0" dirty="0"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22.1%</a:t>
                      </a:r>
                      <a:endParaRPr lang="ko-KR" altLang="en-US" sz="3200" b="0" dirty="0">
                        <a:latin typeface="KoPubWorld돋움체 Medium"/>
                        <a:ea typeface="KoPubWorld돋움체 Medium"/>
                        <a:cs typeface="KoPubWorld돋움체 Mediu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43B98C2-48A2-B2BF-9D4B-DF0D83AD6C01}"/>
              </a:ext>
            </a:extLst>
          </p:cNvPr>
          <p:cNvSpPr txBox="1"/>
          <p:nvPr/>
        </p:nvSpPr>
        <p:spPr>
          <a:xfrm>
            <a:off x="18724700" y="23198447"/>
            <a:ext cx="6823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[table.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2] seed 1 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평가 결과</a:t>
            </a:r>
          </a:p>
        </p:txBody>
      </p:sp>
    </p:spTree>
    <p:extLst>
      <p:ext uri="{BB962C8B-B14F-4D97-AF65-F5344CB8AC3E}">
        <p14:creationId xmlns:p14="http://schemas.microsoft.com/office/powerpoint/2010/main" val="198358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815</Words>
  <Application>Microsoft Office PowerPoint</Application>
  <PresentationFormat>사용자 지정</PresentationFormat>
  <Paragraphs>114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Arial</vt:lpstr>
      <vt:lpstr>KoPubWorld돋움체 Medium</vt:lpstr>
      <vt:lpstr>Calibri</vt:lpstr>
      <vt:lpstr>Calibri Light</vt:lpstr>
      <vt:lpstr>맑은 고딕</vt:lpstr>
      <vt:lpstr>Wingdings</vt:lpstr>
      <vt:lpstr>KoPubWorld돋움체 Bold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박성준</dc:creator>
  <cp:lastModifiedBy>박천웅</cp:lastModifiedBy>
  <cp:revision>85</cp:revision>
  <dcterms:created xsi:type="dcterms:W3CDTF">2023-08-02T04:30:07Z</dcterms:created>
  <dcterms:modified xsi:type="dcterms:W3CDTF">2026-06-18T04:44:47Z</dcterms:modified>
  <cp:version/>
</cp:coreProperties>
</file>